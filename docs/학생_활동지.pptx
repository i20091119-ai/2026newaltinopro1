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503999"/>
            <a:ext cx="6767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3A3230"/>
                </a:solidFill>
                <a:latin typeface="맑은 고딕"/>
                <a:ea typeface="맑은 고딕"/>
              </a:rPr>
              <a:t>🚚 알티노 자율배송 — 임무 기록 활동지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9B8F86"/>
                </a:solidFill>
                <a:latin typeface="맑은 고딕"/>
                <a:ea typeface="맑은 고딕"/>
              </a:rPr>
              <a:t>경남수학문화관 · 자율배송 SW체험 · 센서 숫자로 </a:t>
            </a:r>
            <a:r>
              <a:rPr sz="950" b="1" u="none">
                <a:solidFill>
                  <a:srgbClr val="9B8F86"/>
                </a:solidFill>
                <a:latin typeface="맑은 고딕"/>
                <a:ea typeface="맑은 고딕"/>
              </a:rPr>
              <a:t>주행 코드의 빈칸</a:t>
            </a:r>
            <a:r>
              <a:rPr sz="950" b="0" u="none">
                <a:solidFill>
                  <a:srgbClr val="9B8F86"/>
                </a:solidFill>
                <a:latin typeface="맑은 고딕"/>
                <a:ea typeface="맑은 고딕"/>
              </a:rPr>
              <a:t>을 복구하라!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521999"/>
            <a:ext cx="676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9B8F86"/>
                </a:solidFill>
                <a:latin typeface="맑은 고딕"/>
                <a:ea typeface="맑은 고딕"/>
              </a:rPr>
              <a:t>이름 ____________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6000" y="1025999"/>
            <a:ext cx="1643399" cy="259200"/>
          </a:xfrm>
          <a:prstGeom prst="roundRect">
            <a:avLst>
              <a:gd name="adj" fmla="val 20000"/>
            </a:avLst>
          </a:prstGeom>
          <a:solidFill>
            <a:srgbClr val="5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</a:rPr>
              <a:t>①빛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4199" y="1025999"/>
            <a:ext cx="1643399" cy="259200"/>
          </a:xfrm>
          <a:prstGeom prst="roundRect">
            <a:avLst>
              <a:gd name="adj" fmla="val 20000"/>
            </a:avLst>
          </a:prstGeom>
          <a:solidFill>
            <a:srgbClr val="37C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</a:rPr>
              <a:t>②암호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2398" y="1025999"/>
            <a:ext cx="1643399" cy="259200"/>
          </a:xfrm>
          <a:prstGeom prst="roundRect">
            <a:avLst>
              <a:gd name="adj" fmla="val 20000"/>
            </a:avLst>
          </a:prstGeom>
          <a:solidFill>
            <a:srgbClr val="FF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u="none">
                <a:solidFill>
                  <a:srgbClr val="5A3200"/>
                </a:solidFill>
                <a:latin typeface="맑은 고딕"/>
                <a:ea typeface="맑은 고딕"/>
              </a:rPr>
              <a:t>③소리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0597" y="1025999"/>
            <a:ext cx="1643399" cy="259200"/>
          </a:xfrm>
          <a:prstGeom prst="roundRect">
            <a:avLst>
              <a:gd name="adj" fmla="val 20000"/>
            </a:avLst>
          </a:prstGeom>
          <a:solidFill>
            <a:srgbClr val="F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</a:rPr>
              <a:t>④배송지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000" y="1357199"/>
            <a:ext cx="6767999" cy="486000"/>
          </a:xfrm>
          <a:prstGeom prst="roundRect">
            <a:avLst>
              <a:gd name="adj" fmla="val 9000"/>
            </a:avLst>
          </a:prstGeom>
          <a:solidFill>
            <a:srgbClr val="FFF3E0"/>
          </a:solidFill>
          <a:ln w="25400">
            <a:solidFill>
              <a:srgbClr val="FFE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393199"/>
            <a:ext cx="6551999" cy="41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3A3230"/>
                </a:solidFill>
                <a:latin typeface="맑은 고딕"/>
                <a:ea typeface="맑은 고딕"/>
              </a:rPr>
              <a:t>☀️ </a:t>
            </a:r>
            <a:r>
              <a:rPr sz="1000" b="1" u="none">
                <a:solidFill>
                  <a:srgbClr val="3A3230"/>
                </a:solidFill>
                <a:latin typeface="맑은 고딕"/>
                <a:ea typeface="맑은 고딕"/>
              </a:rPr>
              <a:t>긴급! 태양풍 경보!</a:t>
            </a:r>
            <a:r>
              <a:rPr sz="1000" b="0" u="none">
                <a:solidFill>
                  <a:srgbClr val="3A3230"/>
                </a:solidFill>
                <a:latin typeface="맑은 고딕"/>
                <a:ea typeface="맑은 고딕"/>
              </a:rPr>
              <a:t> GPS·통신이 교란되어 배송차가 길을 잃었어요. 이 차는 </a:t>
            </a:r>
            <a:r>
              <a:rPr sz="1000" b="1" u="none">
                <a:solidFill>
                  <a:srgbClr val="3A3230"/>
                </a:solidFill>
                <a:latin typeface="맑은 고딕"/>
                <a:ea typeface="맑은 고딕"/>
              </a:rPr>
              <a:t>라이다로 벽을</a:t>
            </a:r>
            <a:r>
              <a:rPr sz="1000" b="0" u="none">
                <a:solidFill>
                  <a:srgbClr val="3A3230"/>
                </a:solidFill>
                <a:latin typeface="맑은 고딕"/>
                <a:ea typeface="맑은 고딕"/>
              </a:rPr>
              <a:t>, </a:t>
            </a:r>
            <a:r>
              <a:rPr sz="1000" b="1" u="none">
                <a:solidFill>
                  <a:srgbClr val="3A3230"/>
                </a:solidFill>
                <a:latin typeface="맑은 고딕"/>
                <a:ea typeface="맑은 고딕"/>
              </a:rPr>
              <a:t>빛(조도)으로 터널을</a:t>
            </a:r>
            <a:r>
              <a:rPr sz="1000" b="0" u="none">
                <a:solidFill>
                  <a:srgbClr val="3A3230"/>
                </a:solidFill>
                <a:latin typeface="맑은 고딕"/>
                <a:ea typeface="맑은 고딕"/>
              </a:rPr>
              <a:t> 봅니다. 아래 </a:t>
            </a:r>
            <a:r>
              <a:rPr sz="1000" b="1" u="none">
                <a:solidFill>
                  <a:srgbClr val="3A3230"/>
                </a:solidFill>
                <a:latin typeface="맑은 고딕"/>
                <a:ea typeface="맑은 고딕"/>
              </a:rPr>
              <a:t>①~④</a:t>
            </a:r>
            <a:r>
              <a:rPr sz="1000" b="0" u="none">
                <a:solidFill>
                  <a:srgbClr val="3A3230"/>
                </a:solidFill>
                <a:latin typeface="맑은 고딕"/>
                <a:ea typeface="맑은 고딕"/>
              </a:rPr>
              <a:t>의 빈칸을 채워 주행 코드를 복구하면, 태블릿에서 </a:t>
            </a:r>
            <a:r>
              <a:rPr sz="1000" b="1" u="none">
                <a:solidFill>
                  <a:srgbClr val="3A3230"/>
                </a:solidFill>
                <a:latin typeface="맑은 고딕"/>
                <a:ea typeface="맑은 고딕"/>
              </a:rPr>
              <a:t>프로그램을 조립</a:t>
            </a:r>
            <a:r>
              <a:rPr sz="1000" b="0" u="none">
                <a:solidFill>
                  <a:srgbClr val="3A3230"/>
                </a:solidFill>
                <a:latin typeface="맑은 고딕"/>
                <a:ea typeface="맑은 고딕"/>
              </a:rPr>
              <a:t>해 차가 </a:t>
            </a:r>
            <a:r>
              <a:rPr sz="1000" b="1" u="none">
                <a:solidFill>
                  <a:srgbClr val="3A3230"/>
                </a:solidFill>
                <a:latin typeface="맑은 고딕"/>
                <a:ea typeface="맑은 고딕"/>
              </a:rPr>
              <a:t>스스로</a:t>
            </a:r>
            <a:r>
              <a:rPr sz="1000" b="0" u="none">
                <a:solidFill>
                  <a:srgbClr val="3A3230"/>
                </a:solidFill>
                <a:latin typeface="맑은 고딕"/>
                <a:ea typeface="맑은 고딕"/>
              </a:rPr>
              <a:t> 달려 배송을 완수합니다!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1922399"/>
            <a:ext cx="6767999" cy="1980000"/>
          </a:xfrm>
          <a:prstGeom prst="roundRect">
            <a:avLst>
              <a:gd name="adj" fmla="val 6000"/>
            </a:avLst>
          </a:prstGeom>
          <a:noFill/>
          <a:ln w="27940">
            <a:solidFill>
              <a:srgbClr val="F0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999" y="2001599"/>
            <a:ext cx="2844000" cy="309600"/>
          </a:xfrm>
          <a:prstGeom prst="roundRect">
            <a:avLst>
              <a:gd name="adj" fmla="val 22000"/>
            </a:avLst>
          </a:prstGeom>
          <a:solidFill>
            <a:srgbClr val="5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  <a:latin typeface="맑은 고딕"/>
                <a:ea typeface="맑은 고딕"/>
              </a:rPr>
              <a:t>① 빛 — 터널 기준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2030399"/>
            <a:ext cx="6569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B7A89A"/>
                </a:solidFill>
                <a:latin typeface="맑은 고딕"/>
                <a:ea typeface="맑은 고딕"/>
              </a:rPr>
              <a:t>센서 → 수학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2437199"/>
            <a:ext cx="6407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🔆 밝은 곳 조도 =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      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     🕳️ 터널 안 조도 =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     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851198"/>
            <a:ext cx="6407999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→ </a:t>
            </a:r>
            <a:r>
              <a:rPr sz="1300" b="1" u="none">
                <a:solidFill>
                  <a:srgbClr val="3A3230"/>
                </a:solidFill>
                <a:latin typeface="맑은 고딕"/>
                <a:ea typeface="맑은 고딕"/>
              </a:rPr>
              <a:t>터널 기준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= (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  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＋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  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) ÷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=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2858398"/>
            <a:ext cx="1224000" cy="342000"/>
          </a:xfrm>
          <a:prstGeom prst="roundRect">
            <a:avLst>
              <a:gd name="adj" fmla="val 16000"/>
            </a:avLst>
          </a:prstGeom>
          <a:solidFill>
            <a:srgbClr val="EFFBF6"/>
          </a:solidFill>
          <a:ln w="30480">
            <a:solidFill>
              <a:srgbClr val="37C9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0000" y="3337198"/>
            <a:ext cx="6479999" cy="737999"/>
          </a:xfrm>
          <a:prstGeom prst="roundRect">
            <a:avLst>
              <a:gd name="adj" fmla="val 10000"/>
            </a:avLst>
          </a:prstGeom>
          <a:solidFill>
            <a:srgbClr val="F6FBFF"/>
          </a:solidFill>
          <a:ln w="20320">
            <a:solidFill>
              <a:srgbClr val="D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800" y="3365998"/>
            <a:ext cx="6278399" cy="68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💡 나누는 수는 </a:t>
            </a:r>
            <a:r>
              <a:rPr sz="900" b="1" u="none">
                <a:solidFill>
                  <a:srgbClr val="5578A8"/>
                </a:solidFill>
                <a:latin typeface="맑은 고딕"/>
                <a:ea typeface="맑은 고딕"/>
              </a:rPr>
              <a:t>태블릿 화면의 수</a:t>
            </a: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를 그대로 써요(보통 2 = 평균).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— 왜 두 값의 </a:t>
            </a:r>
            <a:r>
              <a:rPr sz="900" b="1" u="none">
                <a:solidFill>
                  <a:srgbClr val="5578A8"/>
                </a:solidFill>
                <a:latin typeface="맑은 고딕"/>
                <a:ea typeface="맑은 고딕"/>
              </a:rPr>
              <a:t>사이</a:t>
            </a: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여야 잘 맞을까요? 한 문장으로: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                                                                             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999" y="3913198"/>
            <a:ext cx="6264000" cy="15240"/>
          </a:xfrm>
          <a:prstGeom prst="rect">
            <a:avLst/>
          </a:prstGeom>
          <a:solidFill>
            <a:srgbClr val="AFC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6000" y="3974399"/>
            <a:ext cx="6767999" cy="1620000"/>
          </a:xfrm>
          <a:prstGeom prst="roundRect">
            <a:avLst>
              <a:gd name="adj" fmla="val 6000"/>
            </a:avLst>
          </a:prstGeom>
          <a:noFill/>
          <a:ln w="27940">
            <a:solidFill>
              <a:srgbClr val="F0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1999" y="4053599"/>
            <a:ext cx="2844000" cy="309600"/>
          </a:xfrm>
          <a:prstGeom prst="roundRect">
            <a:avLst>
              <a:gd name="adj" fmla="val 22000"/>
            </a:avLst>
          </a:prstGeom>
          <a:solidFill>
            <a:srgbClr val="37C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  <a:latin typeface="맑은 고딕"/>
                <a:ea typeface="맑은 고딕"/>
              </a:rPr>
              <a:t>② 암호 — 주행 코드 복구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" y="4082399"/>
            <a:ext cx="6569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B7A89A"/>
                </a:solidFill>
                <a:latin typeface="맑은 고딕"/>
                <a:ea typeface="맑은 고딕"/>
              </a:rPr>
              <a:t>학년별 수학 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489199"/>
            <a:ext cx="64079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내가 푼 문제: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                 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  정답 = </a:t>
            </a:r>
            <a:r>
              <a:rPr sz="1300" b="1" u="none">
                <a:solidFill>
                  <a:srgbClr val="3A3230"/>
                </a:solidFill>
                <a:latin typeface="맑은 고딕"/>
                <a:ea typeface="맑은 고딕"/>
              </a:rPr>
              <a:t>복구 코드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68000" y="4496399"/>
            <a:ext cx="1080000" cy="342000"/>
          </a:xfrm>
          <a:prstGeom prst="roundRect">
            <a:avLst>
              <a:gd name="adj" fmla="val 16000"/>
            </a:avLst>
          </a:prstGeom>
          <a:solidFill>
            <a:srgbClr val="F6F1FF"/>
          </a:solidFill>
          <a:ln w="30480">
            <a:solidFill>
              <a:srgbClr val="B08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4921199"/>
            <a:ext cx="6407999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u="none">
                <a:solidFill>
                  <a:srgbClr val="B7A89A"/>
                </a:solidFill>
                <a:latin typeface="맑은 고딕"/>
                <a:ea typeface="맑은 고딕"/>
              </a:rPr>
              <a:t>✏️ 계산 과정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5072399"/>
            <a:ext cx="6479999" cy="6300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20320">
            <a:solidFill>
              <a:srgbClr val="CDBF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6000" y="5666399"/>
            <a:ext cx="6767999" cy="1800000"/>
          </a:xfrm>
          <a:prstGeom prst="roundRect">
            <a:avLst>
              <a:gd name="adj" fmla="val 6000"/>
            </a:avLst>
          </a:prstGeom>
          <a:noFill/>
          <a:ln w="27940">
            <a:solidFill>
              <a:srgbClr val="F0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999" y="5745599"/>
            <a:ext cx="1800000" cy="309600"/>
          </a:xfrm>
          <a:prstGeom prst="roundRect">
            <a:avLst>
              <a:gd name="adj" fmla="val 22000"/>
            </a:avLst>
          </a:prstGeom>
          <a:solidFill>
            <a:srgbClr val="FF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5A3200"/>
                </a:solidFill>
                <a:latin typeface="맑은 고딕"/>
                <a:ea typeface="맑은 고딕"/>
              </a:rPr>
              <a:t>③ 소리 미션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000" y="5774399"/>
            <a:ext cx="6569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B7A89A"/>
                </a:solidFill>
                <a:latin typeface="맑은 고딕"/>
                <a:ea typeface="맑은 고딕"/>
              </a:rPr>
              <a:t>터널 소리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6199199"/>
            <a:ext cx="64079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계이름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  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· </a:t>
            </a:r>
            <a:r>
              <a:rPr sz="1300" b="1" u="sng">
                <a:solidFill>
                  <a:srgbClr val="7A4FD0"/>
                </a:solidFill>
                <a:latin typeface="맑은 고딕"/>
                <a:ea typeface="맑은 고딕"/>
              </a:rPr>
              <a:t>     </a:t>
            </a: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 을(를) </a:t>
            </a:r>
            <a:r>
              <a:rPr sz="1300" b="1" u="none">
                <a:solidFill>
                  <a:srgbClr val="3A3230"/>
                </a:solidFill>
                <a:latin typeface="맑은 고딕"/>
                <a:ea typeface="맑은 고딕"/>
              </a:rPr>
              <a:t>반복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0000" y="6206399"/>
            <a:ext cx="1007999" cy="342000"/>
          </a:xfrm>
          <a:prstGeom prst="roundRect">
            <a:avLst>
              <a:gd name="adj" fmla="val 16000"/>
            </a:avLst>
          </a:prstGeom>
          <a:solidFill>
            <a:srgbClr val="FFF8EC"/>
          </a:solidFill>
          <a:ln w="30480">
            <a:solidFill>
              <a:srgbClr val="FF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6000" y="6199199"/>
            <a:ext cx="720000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번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0000" y="6685199"/>
          <a:ext cx="6479999" cy="3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999"/>
                <a:gridCol w="809999"/>
                <a:gridCol w="809999"/>
                <a:gridCol w="809999"/>
                <a:gridCol w="809999"/>
                <a:gridCol w="809999"/>
                <a:gridCol w="809999"/>
                <a:gridCol w="810006"/>
              </a:tblGrid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도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레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미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파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솔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라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시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높은도</a:t>
                      </a:r>
                    </a:p>
                  </a:txBody>
                  <a:tcPr marL="0" marR="0" marT="12700" marB="12700">
                    <a:solidFill>
                      <a:srgbClr val="FFF8EC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540000" y="7135199"/>
            <a:ext cx="6479999" cy="342000"/>
          </a:xfrm>
          <a:prstGeom prst="roundRect">
            <a:avLst>
              <a:gd name="adj" fmla="val 10000"/>
            </a:avLst>
          </a:prstGeom>
          <a:solidFill>
            <a:srgbClr val="F6FBFF"/>
          </a:solidFill>
          <a:ln w="20320">
            <a:solidFill>
              <a:srgbClr val="D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800" y="7163999"/>
            <a:ext cx="6278399" cy="28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🎵 고른 두 계이름에 ○표! 앱의 </a:t>
            </a:r>
            <a:r>
              <a:rPr sz="900" b="1" u="none">
                <a:solidFill>
                  <a:srgbClr val="5578A8"/>
                </a:solidFill>
                <a:latin typeface="맑은 고딕"/>
                <a:ea typeface="맑은 고딕"/>
              </a:rPr>
              <a:t>▶듣기</a:t>
            </a: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로 소리를 미리 들어봐요. </a:t>
            </a:r>
            <a:r>
              <a:rPr sz="900" b="1" u="none">
                <a:solidFill>
                  <a:srgbClr val="5578A8"/>
                </a:solidFill>
                <a:latin typeface="맑은 고딕"/>
                <a:ea typeface="맑은 고딕"/>
              </a:rPr>
              <a:t>반복은 최대 10번</a:t>
            </a:r>
            <a:r>
              <a:rPr sz="900" b="0" u="none">
                <a:solidFill>
                  <a:srgbClr val="5578A8"/>
                </a:solidFill>
                <a:latin typeface="맑은 고딕"/>
                <a:ea typeface="맑은 고딕"/>
              </a:rPr>
              <a:t>까지.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6000" y="7538399"/>
            <a:ext cx="6767999" cy="2286000"/>
          </a:xfrm>
          <a:prstGeom prst="roundRect">
            <a:avLst>
              <a:gd name="adj" fmla="val 6000"/>
            </a:avLst>
          </a:prstGeom>
          <a:noFill/>
          <a:ln w="27940">
            <a:solidFill>
              <a:srgbClr val="F0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1999" y="7617599"/>
            <a:ext cx="3384000" cy="309600"/>
          </a:xfrm>
          <a:prstGeom prst="roundRect">
            <a:avLst>
              <a:gd name="adj" fmla="val 22000"/>
            </a:avLst>
          </a:prstGeom>
          <a:solidFill>
            <a:srgbClr val="F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  <a:latin typeface="맑은 고딕"/>
                <a:ea typeface="맑은 고딕"/>
              </a:rPr>
              <a:t>④ 배송지 — 문제 풀고 문자 얻기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000" y="7646399"/>
            <a:ext cx="6569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B7A89A"/>
                </a:solidFill>
                <a:latin typeface="맑은 고딕"/>
                <a:ea typeface="맑은 고딕"/>
              </a:rPr>
              <a:t>배송 계산 → 문자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" y="8053199"/>
            <a:ext cx="6407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3A3230"/>
                </a:solidFill>
                <a:latin typeface="맑은 고딕"/>
                <a:ea typeface="맑은 고딕"/>
              </a:rPr>
              <a:t>🚚 배송 문제를 풀어 </a:t>
            </a:r>
            <a:r>
              <a:rPr sz="1200" b="1" u="none">
                <a:solidFill>
                  <a:srgbClr val="3A3230"/>
                </a:solidFill>
                <a:latin typeface="맑은 고딕"/>
                <a:ea typeface="맑은 고딕"/>
              </a:rPr>
              <a:t>상자 수</a:t>
            </a:r>
            <a:r>
              <a:rPr sz="1200" b="0" u="none">
                <a:solidFill>
                  <a:srgbClr val="3A3230"/>
                </a:solidFill>
                <a:latin typeface="맑은 고딕"/>
                <a:ea typeface="맑은 고딕"/>
              </a:rPr>
              <a:t>를 구하고, 아래 표에서 </a:t>
            </a:r>
            <a:r>
              <a:rPr sz="1200" b="1" u="none">
                <a:solidFill>
                  <a:srgbClr val="3A3230"/>
                </a:solidFill>
                <a:latin typeface="맑은 고딕"/>
                <a:ea typeface="맑은 고딕"/>
              </a:rPr>
              <a:t>문자</a:t>
            </a:r>
            <a:r>
              <a:rPr sz="1200" b="0" u="none">
                <a:solidFill>
                  <a:srgbClr val="3A3230"/>
                </a:solidFill>
                <a:latin typeface="맑은 고딕"/>
                <a:ea typeface="맑은 고딕"/>
              </a:rPr>
              <a:t>를 찾아요.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00" y="8395199"/>
            <a:ext cx="64079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상자 수 =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40000" y="8402399"/>
            <a:ext cx="1007999" cy="342000"/>
          </a:xfrm>
          <a:prstGeom prst="roundRect">
            <a:avLst>
              <a:gd name="adj" fmla="val 16000"/>
            </a:avLst>
          </a:prstGeom>
          <a:solidFill>
            <a:srgbClr val="FFF2F1"/>
          </a:solidFill>
          <a:ln w="30480">
            <a:solidFill>
              <a:srgbClr val="FF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92000" y="8395199"/>
            <a:ext cx="2160000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3A3230"/>
                </a:solidFill>
                <a:latin typeface="맑은 고딕"/>
                <a:ea typeface="맑은 고딕"/>
              </a:rPr>
              <a:t>→  배송지 문자 =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47999" y="8402399"/>
            <a:ext cx="936000" cy="342000"/>
          </a:xfrm>
          <a:prstGeom prst="roundRect">
            <a:avLst>
              <a:gd name="adj" fmla="val 16000"/>
            </a:avLst>
          </a:prstGeom>
          <a:solidFill>
            <a:srgbClr val="EFFBF6"/>
          </a:solidFill>
          <a:ln w="30480">
            <a:solidFill>
              <a:srgbClr val="37C9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540000" y="8863199"/>
          <a:ext cx="6479995" cy="9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1036799"/>
                <a:gridCol w="1036799"/>
                <a:gridCol w="1036799"/>
                <a:gridCol w="1036799"/>
                <a:gridCol w="1036799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9B8F86"/>
                          </a:solidFill>
                          <a:latin typeface="맑은 고딕"/>
                          <a:ea typeface="맑은 고딕"/>
                        </a:rPr>
                        <a:t>상자 수</a:t>
                      </a:r>
                    </a:p>
                  </a:txBody>
                  <a:tcPr marT="12700" marB="12700"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24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9B8F86"/>
                          </a:solidFill>
                          <a:latin typeface="맑은 고딕"/>
                          <a:ea typeface="맑은 고딕"/>
                        </a:rPr>
                        <a:t>배송 구역</a:t>
                      </a:r>
                    </a:p>
                  </a:txBody>
                  <a:tcPr marT="12700" marB="12700"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북부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서부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동부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남부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중앙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9B8F86"/>
                          </a:solidFill>
                          <a:latin typeface="맑은 고딕"/>
                          <a:ea typeface="맑은 고딕"/>
                        </a:rPr>
                        <a:t>문자</a:t>
                      </a:r>
                    </a:p>
                  </a:txBody>
                  <a:tcPr marT="12700" marB="12700"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N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E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u="none">
                          <a:solidFill>
                            <a:srgbClr val="3A3230"/>
                          </a:solidFill>
                          <a:latin typeface="맑은 고딕"/>
                          <a:ea typeface="맑은 고딕"/>
                        </a:rPr>
                        <a:t>D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396000" y="9914399"/>
            <a:ext cx="676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u="none">
                <a:solidFill>
                  <a:srgbClr val="9B8F86"/>
                </a:solidFill>
                <a:latin typeface="맑은 고딕"/>
                <a:ea typeface="맑은 고딕"/>
              </a:rPr>
              <a:t>①~④를 다 채웠으면 태블릿에서 </a:t>
            </a:r>
            <a:r>
              <a:rPr sz="850" b="1" u="none">
                <a:solidFill>
                  <a:srgbClr val="9B8F86"/>
                </a:solidFill>
                <a:latin typeface="맑은 고딕"/>
                <a:ea typeface="맑은 고딕"/>
              </a:rPr>
              <a:t>⑤ 프로그램 조립 → ⑥ 출발!</a:t>
            </a:r>
            <a:r>
              <a:rPr sz="850" b="0" u="none">
                <a:solidFill>
                  <a:srgbClr val="9B8F86"/>
                </a:solidFill>
                <a:latin typeface="맑은 고딕"/>
                <a:ea typeface="맑은 고딕"/>
              </a:rPr>
              <a:t> · 수학SW체험활동 · 경남수학문화관 ✏️🤖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